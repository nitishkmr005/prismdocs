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5325" y="746075"/>
            <a:ext cx="24643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63445" y="746075"/>
            <a:ext cx="90293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95325" y="1228576"/>
            <a:ext cx="790841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Changed Since 2017?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95325" y="2473077"/>
            <a:ext cx="1524000" cy="76200"/>
          </a:xfrm>
          <a:prstGeom prst="roundRect">
            <a:avLst>
              <a:gd name="adj" fmla="val 16650000"/>
            </a:avLst>
          </a:prstGeom>
          <a:solidFill>
            <a:srgbClr val="D76B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5325" y="2828627"/>
            <a:ext cx="790841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stayed the same. Everything around it evolved: position encoding, normalization, and attention scaling.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5325" y="3514427"/>
            <a:ext cx="790841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distills the core architecture shifts behind long-context, high-parameter transformers.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5325" y="4157514"/>
            <a:ext cx="1088380" cy="316111"/>
          </a:xfrm>
          <a:prstGeom prst="roundRect">
            <a:avLst>
              <a:gd name="adj" fmla="val 4013559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1800" y="4217789"/>
            <a:ext cx="83173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to 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10655" y="4157514"/>
            <a:ext cx="1972866" cy="316111"/>
          </a:xfrm>
          <a:prstGeom prst="roundRect">
            <a:avLst>
              <a:gd name="adj" fmla="val 4013559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47131" y="4217789"/>
            <a:ext cx="173391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+ Norm + Attention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10471" y="4157514"/>
            <a:ext cx="1724620" cy="316111"/>
          </a:xfrm>
          <a:prstGeom prst="roundRect">
            <a:avLst>
              <a:gd name="adj" fmla="val 4013559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46947" y="4217789"/>
            <a:ext cx="148070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and GPT lineage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20682" y="746075"/>
            <a:ext cx="1380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93602"/>
            <a:ext cx="796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upgrades that unlocked scale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875" y="1765102"/>
            <a:ext cx="2465933" cy="1262063"/>
          </a:xfrm>
          <a:prstGeom prst="roundRect">
            <a:avLst>
              <a:gd name="adj" fmla="val 12075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1800" y="19270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Encoding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1800" y="2222302"/>
            <a:ext cx="21849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vectors gave way to RoPE/ALiBi, injecting order where attention happens.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38959" y="1765102"/>
            <a:ext cx="2465933" cy="1262063"/>
          </a:xfrm>
          <a:prstGeom prst="roundRect">
            <a:avLst>
              <a:gd name="adj" fmla="val 12075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00884" y="19270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0884" y="2222302"/>
            <a:ext cx="21849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Post-norm became pre-norm, and LayerNorm simplified into faster RMSNorm.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08043" y="1765102"/>
            <a:ext cx="2465933" cy="1262063"/>
          </a:xfrm>
          <a:prstGeom prst="roundRect">
            <a:avLst>
              <a:gd name="adj" fmla="val 12075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69968" y="19270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Scaling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69968" y="2222302"/>
            <a:ext cx="21849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attention morphed into sparse windows and GQA to control O(n^2) costs.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62230" y="746075"/>
            <a:ext cx="11341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SHIFT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93602"/>
            <a:ext cx="796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512 tokens to 128K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875" y="1688902"/>
            <a:ext cx="2465933" cy="2095202"/>
          </a:xfrm>
          <a:prstGeom prst="roundRect">
            <a:avLst>
              <a:gd name="adj" fmla="val 7274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101" y="2003078"/>
            <a:ext cx="2133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BASELINE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7101" y="2272903"/>
            <a:ext cx="21333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65M params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101" y="2777728"/>
            <a:ext cx="2133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length: 512 tokens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7101" y="3101578"/>
            <a:ext cx="2133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attention, post-norm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8959" y="1688902"/>
            <a:ext cx="2465933" cy="2095202"/>
          </a:xfrm>
          <a:prstGeom prst="roundRect">
            <a:avLst>
              <a:gd name="adj" fmla="val 7274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26185" y="2003078"/>
            <a:ext cx="2133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2024-2025 SCALE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6185" y="2272903"/>
            <a:ext cx="21333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100B+ params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6185" y="2777728"/>
            <a:ext cx="2133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length: 128K tokens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6185" y="3101578"/>
            <a:ext cx="2133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attention + GQA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08043" y="1688902"/>
            <a:ext cx="2465933" cy="2095202"/>
          </a:xfrm>
          <a:prstGeom prst="roundRect">
            <a:avLst>
              <a:gd name="adj" fmla="val 7274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5268" y="2003078"/>
            <a:ext cx="2133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ENABLERS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95268" y="2272903"/>
            <a:ext cx="21333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upgrades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95268" y="2777728"/>
            <a:ext cx="21333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Position, norm, attention mechanics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5268" y="3273028"/>
            <a:ext cx="2133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over raw compute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article-overvie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38226" y="1457027"/>
            <a:ext cx="4667101" cy="31114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modifications map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88906" y="746075"/>
            <a:ext cx="20249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EMBEDDINGS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68301"/>
            <a:ext cx="796033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generations of position encoding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69875" y="1730276"/>
            <a:ext cx="7804249" cy="674340"/>
          </a:xfrm>
          <a:prstGeom prst="roundRect">
            <a:avLst>
              <a:gd name="adj" fmla="val 1883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6351" y="1968401"/>
            <a:ext cx="67355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19101" y="1968401"/>
            <a:ext cx="524561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and sinusoidal embeddings at the input layer. Limited extrapolation.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9875" y="2480816"/>
            <a:ext cx="7804249" cy="674340"/>
          </a:xfrm>
          <a:prstGeom prst="roundRect">
            <a:avLst>
              <a:gd name="adj" fmla="val 1883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6351" y="2718941"/>
            <a:ext cx="67355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19101" y="2718941"/>
            <a:ext cx="540925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 rotates Q/K vectors, encoding relative position where attention happens.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9875" y="3231356"/>
            <a:ext cx="7804249" cy="674340"/>
          </a:xfrm>
          <a:prstGeom prst="roundRect">
            <a:avLst>
              <a:gd name="adj" fmla="val 1883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6351" y="3469481"/>
            <a:ext cx="67355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19101" y="3469481"/>
            <a:ext cx="5245459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ALiBi adds linear distance bias inside attention; strong length generalization.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9875" y="3981896"/>
            <a:ext cx="7804249" cy="674340"/>
          </a:xfrm>
          <a:prstGeom prst="roundRect">
            <a:avLst>
              <a:gd name="adj" fmla="val 1883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6351" y="4220021"/>
            <a:ext cx="67355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19101" y="4220021"/>
            <a:ext cx="47262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NoPE experiments drop explicit position signals to reduce overfitting.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88906" y="746075"/>
            <a:ext cx="20249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EMBEDDINGS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93602"/>
            <a:ext cx="796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RoPE vs ALiBi: where position lives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875" y="1714202"/>
            <a:ext cx="3800624" cy="1709738"/>
          </a:xfrm>
          <a:prstGeom prst="roundRect">
            <a:avLst>
              <a:gd name="adj" fmla="val 8914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1800" y="1876127"/>
            <a:ext cx="35463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1800" y="2090440"/>
            <a:ext cx="35463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Q/K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1800" y="2404765"/>
            <a:ext cx="35463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Multiplicative rotation preserves semantic magnitude while encoding relative offsets.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31800" y="2833390"/>
            <a:ext cx="35463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choice for LLaMA, Mistral, Qwen, Phi.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73650" y="1714202"/>
            <a:ext cx="3800624" cy="1709738"/>
          </a:xfrm>
          <a:prstGeom prst="roundRect">
            <a:avLst>
              <a:gd name="adj" fmla="val 8914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5575" y="1876127"/>
            <a:ext cx="35463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35575" y="2090440"/>
            <a:ext cx="35463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bias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35575" y="2404765"/>
            <a:ext cx="35463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distance penalty inside attention. Excellent length extrapolation.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35575" y="2833390"/>
            <a:ext cx="35463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 BLOOM and MPT for long-context generalization.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NoPE vs Linear Attention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files/07_nope_linear_atten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38226" y="1457027"/>
            <a:ext cx="4667101" cy="31114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positional embeddings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88237" y="746075"/>
            <a:ext cx="14136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93602"/>
            <a:ext cx="796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Post-norm -&gt; Pre-norm -&gt; RMSNorm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875" y="1714202"/>
            <a:ext cx="2499866" cy="1724025"/>
          </a:xfrm>
          <a:prstGeom prst="roundRect">
            <a:avLst>
              <a:gd name="adj" fmla="val 8840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1800" y="1876127"/>
            <a:ext cx="22195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Post-Norm (2017)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1800" y="2171402"/>
            <a:ext cx="221953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 after residual: harder gradient flow in deep stacks.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1800" y="2890540"/>
            <a:ext cx="2176016" cy="385763"/>
          </a:xfrm>
          <a:prstGeom prst="roundRect">
            <a:avLst>
              <a:gd name="adj" fmla="val 26337"/>
            </a:avLst>
          </a:prstGeom>
          <a:solidFill>
            <a:srgbClr val="F1E9DD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7525" y="2976265"/>
            <a:ext cx="204465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LayerNorm(x + F(x))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22141" y="1714202"/>
            <a:ext cx="2499866" cy="1724025"/>
          </a:xfrm>
          <a:prstGeom prst="roundRect">
            <a:avLst>
              <a:gd name="adj" fmla="val 8840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4066" y="1876127"/>
            <a:ext cx="22195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Pre-Norm (Modern)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84066" y="2171402"/>
            <a:ext cx="221953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is a clean highway; stable training at depth.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84066" y="2676227"/>
            <a:ext cx="2176016" cy="385763"/>
          </a:xfrm>
          <a:prstGeom prst="roundRect">
            <a:avLst>
              <a:gd name="adj" fmla="val 26337"/>
            </a:avLst>
          </a:prstGeom>
          <a:solidFill>
            <a:srgbClr val="F1E9DD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69791" y="2761952"/>
            <a:ext cx="204465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F(LayerNorm(x))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74407" y="1714202"/>
            <a:ext cx="2499866" cy="1724025"/>
          </a:xfrm>
          <a:prstGeom prst="roundRect">
            <a:avLst>
              <a:gd name="adj" fmla="val 8840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36332" y="1876127"/>
            <a:ext cx="22195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 + QK-Norm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36332" y="2171402"/>
            <a:ext cx="221953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mean subtraction. Faster, fewer params, stable.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36332" y="2676227"/>
            <a:ext cx="2176016" cy="600075"/>
          </a:xfrm>
          <a:prstGeom prst="roundRect">
            <a:avLst>
              <a:gd name="adj" fmla="val 16931"/>
            </a:avLst>
          </a:prstGeom>
          <a:solidFill>
            <a:srgbClr val="F1E9DD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22057" y="2761952"/>
            <a:ext cx="20446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RMSNorm(x) = x / RMS(x)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 Placement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files/05_normalization_placemen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5595" y="1457027"/>
            <a:ext cx="4392513" cy="31112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Pre-norm vs post-norm comparisons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18548" y="746075"/>
            <a:ext cx="1790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SCALING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93602"/>
            <a:ext cx="796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Breaking the O(n^2) wall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875" y="1638002"/>
            <a:ext cx="2465933" cy="1938337"/>
          </a:xfrm>
          <a:prstGeom prst="roundRect">
            <a:avLst>
              <a:gd name="adj" fmla="val 7862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1800" y="17999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Attention Cost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1800" y="2095202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 = 4096 tokens, QK^T is 16.7M entries per head.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1800" y="2600027"/>
            <a:ext cx="2142083" cy="600075"/>
          </a:xfrm>
          <a:prstGeom prst="roundRect">
            <a:avLst>
              <a:gd name="adj" fmla="val 16931"/>
            </a:avLst>
          </a:prstGeom>
          <a:solidFill>
            <a:srgbClr val="F1E9DD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7525" y="2685752"/>
            <a:ext cx="20100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4096 x 4096 x 2 bytes ≈ 33.5 MB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38959" y="1638002"/>
            <a:ext cx="2465933" cy="1938337"/>
          </a:xfrm>
          <a:prstGeom prst="roundRect">
            <a:avLst>
              <a:gd name="adj" fmla="val 7862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0884" y="17999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0884" y="2095202"/>
            <a:ext cx="21849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attends to w neighbors. Complexity drops to O(n x w).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00884" y="2814340"/>
            <a:ext cx="2142083" cy="600075"/>
          </a:xfrm>
          <a:prstGeom prst="roundRect">
            <a:avLst>
              <a:gd name="adj" fmla="val 16931"/>
            </a:avLst>
          </a:prstGeom>
          <a:solidFill>
            <a:srgbClr val="F1E9DD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86609" y="2900065"/>
            <a:ext cx="20100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128K, w = 4K (Mistral)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08043" y="1638002"/>
            <a:ext cx="2465933" cy="1938337"/>
          </a:xfrm>
          <a:prstGeom prst="roundRect">
            <a:avLst>
              <a:gd name="adj" fmla="val 7862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69968" y="17999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Patterns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69968" y="2095202"/>
            <a:ext cx="21849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Interleave local and global layers to keep long-range recall.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69968" y="2738140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LLMs mix sparse + full layers.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Sliding Window Attention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files/04_sliding_window_atten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5595" y="1457027"/>
            <a:ext cx="4392513" cy="31112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vs sliding window attention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Sliding Window (Alt)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diagram_6_sliding_wind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0450" y="1457027"/>
            <a:ext cx="6222802" cy="31114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Windowed attention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07796" y="746075"/>
            <a:ext cx="8836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93602"/>
            <a:ext cx="796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MHA -&gt; GQA -&gt; MQA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875" y="1714202"/>
            <a:ext cx="2465933" cy="1262063"/>
          </a:xfrm>
          <a:prstGeom prst="roundRect">
            <a:avLst>
              <a:gd name="adj" fmla="val 12075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1800" y="18761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1800" y="2171402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query head has its own K/V head.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1800" y="2600027"/>
            <a:ext cx="21849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KV heads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38959" y="1714202"/>
            <a:ext cx="2465933" cy="1262063"/>
          </a:xfrm>
          <a:prstGeom prst="roundRect">
            <a:avLst>
              <a:gd name="adj" fmla="val 12075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00884" y="18761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GQA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0884" y="2171402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queries to share K/V. Cache shrinks.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00884" y="2600027"/>
            <a:ext cx="21849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KV heads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08043" y="1714202"/>
            <a:ext cx="2465933" cy="1262063"/>
          </a:xfrm>
          <a:prstGeom prst="roundRect">
            <a:avLst>
              <a:gd name="adj" fmla="val 12075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69968" y="18761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69968" y="2171402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queries share a single K/V head.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69968" y="2600027"/>
            <a:ext cx="21849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KV head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9875" y="3103215"/>
            <a:ext cx="7960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major KV cache savings during autoregressive generation, with minimal quality loss.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Head Sharing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files/01_mha_vs_gq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97634" y="1457027"/>
            <a:ext cx="4148435" cy="31112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MHA vs GQA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Sharing (Alt)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diagram_2_attention_sharing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933" y="1457027"/>
            <a:ext cx="7259836" cy="31112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attention schematic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65219" y="746075"/>
            <a:ext cx="10290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93602"/>
            <a:ext cx="796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MLA + MoE: modern scaling tricks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875" y="1714202"/>
            <a:ext cx="3800624" cy="1476375"/>
          </a:xfrm>
          <a:prstGeom prst="roundRect">
            <a:avLst>
              <a:gd name="adj" fmla="val 1032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1800" y="1876127"/>
            <a:ext cx="35463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Latent Attention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1800" y="2171402"/>
            <a:ext cx="35463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 K/V into a latent cache, then project back at inference.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1800" y="2600027"/>
            <a:ext cx="35463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V3/R1 shows strong quality with smaller cache memory.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73650" y="1714202"/>
            <a:ext cx="3800624" cy="1476375"/>
          </a:xfrm>
          <a:prstGeom prst="roundRect">
            <a:avLst>
              <a:gd name="adj" fmla="val 1032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35575" y="1876127"/>
            <a:ext cx="35463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Mixture-of-Experts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35575" y="2171402"/>
            <a:ext cx="35463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each token to a small subset of experts instead of one giant FFN.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35575" y="2600027"/>
            <a:ext cx="35463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total parameters with manageable per-token compute.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Latent Attention (MLA)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files/02_mla_deepsee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51906" y="1457027"/>
            <a:ext cx="4839891" cy="31112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KV cache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Mixture-of-Experts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files/03_mixture_of_expert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04951" y="1457027"/>
            <a:ext cx="3733651" cy="31112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expert routing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67711" y="746075"/>
            <a:ext cx="13325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93602"/>
            <a:ext cx="796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transformer families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875" y="1714202"/>
            <a:ext cx="2465933" cy="1476375"/>
          </a:xfrm>
          <a:prstGeom prst="roundRect">
            <a:avLst>
              <a:gd name="adj" fmla="val 1032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1800" y="18761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1800" y="2171402"/>
            <a:ext cx="21849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attention for classification and embeddings.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1800" y="2814340"/>
            <a:ext cx="21849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BERT, RoBERTa.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38959" y="1714202"/>
            <a:ext cx="2465933" cy="1476375"/>
          </a:xfrm>
          <a:prstGeom prst="roundRect">
            <a:avLst>
              <a:gd name="adj" fmla="val 1032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00884" y="18761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0884" y="2171402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attention for generation and chat.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00884" y="2600027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GPT-4, LLaMA, Mistral.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08043" y="1714202"/>
            <a:ext cx="2465933" cy="1476375"/>
          </a:xfrm>
          <a:prstGeom prst="roundRect">
            <a:avLst>
              <a:gd name="adj" fmla="val 1032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69968" y="18761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69968" y="2171402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encoder + decoder for seq2seq tasks.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69968" y="2600027"/>
            <a:ext cx="21849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T5, BART.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9875" y="3317528"/>
            <a:ext cx="7960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 dominates because next-token prediction scales cleanly with compute.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Types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diagram_4_architecture_type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0450" y="1457027"/>
            <a:ext cx="6222802" cy="31114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vs decoder patterns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26896" y="746075"/>
            <a:ext cx="456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93602"/>
            <a:ext cx="796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Encoder-only pipeline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875" y="1714202"/>
            <a:ext cx="2465933" cy="1938337"/>
          </a:xfrm>
          <a:prstGeom prst="roundRect">
            <a:avLst>
              <a:gd name="adj" fmla="val 7862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1800" y="18761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Format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1800" y="2171402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+ position + segment embeddings summed.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1800" y="2676227"/>
            <a:ext cx="2142083" cy="814388"/>
          </a:xfrm>
          <a:prstGeom prst="roundRect">
            <a:avLst>
              <a:gd name="adj" fmla="val 12476"/>
            </a:avLst>
          </a:prstGeom>
          <a:solidFill>
            <a:srgbClr val="F1E9DD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7525" y="2761952"/>
            <a:ext cx="201004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[CLS] sentence A [SEP] sentence B [SEP]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38959" y="1714202"/>
            <a:ext cx="2465933" cy="1938337"/>
          </a:xfrm>
          <a:prstGeom prst="roundRect">
            <a:avLst>
              <a:gd name="adj" fmla="val 7862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0884" y="18761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0884" y="2171402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MLM masks 15% tokens; NSP predicts sentence order.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00884" y="2600027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 drops NSP and trains longer.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08043" y="1714202"/>
            <a:ext cx="2465933" cy="1938337"/>
          </a:xfrm>
          <a:prstGeom prst="roundRect">
            <a:avLst>
              <a:gd name="adj" fmla="val 7862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69968" y="1876127"/>
            <a:ext cx="218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69968" y="2171402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 keeps 97% of accuracy with 60% speedup.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69968" y="2600027"/>
            <a:ext cx="2184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 improves GLUE with more data.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 Anatomy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diagram_5_ber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06178" y="1457027"/>
            <a:ext cx="5531346" cy="31112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input + pretraining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4482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9875" y="746075"/>
            <a:ext cx="2464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18300" y="746075"/>
            <a:ext cx="13829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BLOCK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9875" y="1193602"/>
            <a:ext cx="796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transformer block checklist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9875" y="1714202"/>
            <a:ext cx="3800624" cy="1690688"/>
          </a:xfrm>
          <a:prstGeom prst="roundRect">
            <a:avLst>
              <a:gd name="adj" fmla="val 9014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1800" y="1876127"/>
            <a:ext cx="35463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Recipe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1800" y="2171402"/>
            <a:ext cx="3476774" cy="323850"/>
          </a:xfrm>
          <a:prstGeom prst="roundRect">
            <a:avLst>
              <a:gd name="adj" fmla="val 31373"/>
            </a:avLst>
          </a:prstGeom>
          <a:solidFill>
            <a:srgbClr val="F1E9DD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7525" y="2257127"/>
            <a:ext cx="33714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RMSNorm -&gt; RoPE + GQA -&gt; SwiGLU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4951" y="2495252"/>
            <a:ext cx="3273623" cy="6429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Pre-norm residuals for stability</a:t>
            </a:r>
            <a:endParaRPr lang="en-US" sz="1250" dirty="0"/>
          </a:p>
          <a:p>
            <a:pPr algn="l" marL="190500" indent="-190500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GQA for KV cache savings</a:t>
            </a:r>
            <a:endParaRPr lang="en-US" sz="1250" dirty="0"/>
          </a:p>
          <a:p>
            <a:pPr algn="l" marL="190500" indent="-190500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SwiGLU boosts FFN capacity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73650" y="1714202"/>
            <a:ext cx="3800624" cy="1690688"/>
          </a:xfrm>
          <a:prstGeom prst="roundRect">
            <a:avLst>
              <a:gd name="adj" fmla="val 9014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5575" y="1876127"/>
            <a:ext cx="35463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by Task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38725" y="2171402"/>
            <a:ext cx="3273623" cy="107156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context: RoPE + scaling or ALiBi</a:t>
            </a:r>
            <a:endParaRPr lang="en-US" sz="1250" dirty="0"/>
          </a:p>
          <a:p>
            <a:pPr algn="l" marL="190500" indent="-190500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bound: GQA or MQA</a:t>
            </a:r>
            <a:endParaRPr lang="en-US" sz="1250" dirty="0"/>
          </a:p>
          <a:p>
            <a:pPr algn="l" marL="190500" indent="-190500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encoder-only BERT variants</a:t>
            </a:r>
            <a:endParaRPr lang="en-US" sz="1250" dirty="0"/>
          </a:p>
          <a:p>
            <a:pPr algn="l" marL="190500" indent="-190500">
              <a:lnSpc>
                <a:spcPts val="1688"/>
              </a:lnSpc>
              <a:buSzPct val="100000"/>
              <a:buChar char="•"/>
            </a:pPr>
            <a:r>
              <a:rPr lang="en-US" sz="125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Generation: decoder-only GPT style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diagram_7_summar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7917" y="1457027"/>
            <a:ext cx="5807869" cy="31112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to 2024 shift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5901" cy="4635401"/>
          </a:xfrm>
          <a:prstGeom prst="roundRect">
            <a:avLst>
              <a:gd name="adj" fmla="val 4384"/>
            </a:avLst>
          </a:prstGeom>
          <a:solidFill>
            <a:srgbClr val="FFFDF8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327" y="580876"/>
            <a:ext cx="2204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5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21067" y="580876"/>
            <a:ext cx="821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76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327" y="930027"/>
            <a:ext cx="82712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7327" y="1320552"/>
            <a:ext cx="8109049" cy="3384352"/>
          </a:xfrm>
          <a:prstGeom prst="roundRect">
            <a:avLst>
              <a:gd name="adj" fmla="val 4503"/>
            </a:avLst>
          </a:prstGeom>
          <a:solidFill>
            <a:srgbClr val="F9F2E6"/>
          </a:solidFill>
          <a:ln w="9525">
            <a:solidFill>
              <a:srgbClr val="E2D7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nitishkumarharsoor/Documents/1.Learnings/1.Projects/4.Experiments/1.portfolio/static/images/posts/transformers/files/06_comprehensive_comparis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1842" y="1457027"/>
            <a:ext cx="3959870" cy="31112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327" y="4755654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block comparisons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Internals: What Actually Changed Since 2017</dc:title>
  <dc:subject>PptxGenJS Presentation</dc:subject>
  <dc:creator>Transformer Internals</dc:creator>
  <cp:lastModifiedBy>Transformer Internals</cp:lastModifiedBy>
  <cp:revision>1</cp:revision>
  <dcterms:created xsi:type="dcterms:W3CDTF">2026-01-02T09:42:07Z</dcterms:created>
  <dcterms:modified xsi:type="dcterms:W3CDTF">2026-01-02T09:42:07Z</dcterms:modified>
</cp:coreProperties>
</file>